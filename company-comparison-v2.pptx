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FF"/>
                </a:solidFill>
              </a:rPr>
              <a:t>📊 مقارنة أداء الشركات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D4FF"/>
                </a:solidFill>
              </a:rPr>
              <a:t>🏢 الشركات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1920240"/>
          </a:xfrm>
          <a:prstGeom prst="roundRect">
            <a:avLst/>
          </a:prstGeom>
          <a:solidFill>
            <a:srgbClr val="25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🏢 شركة أ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💰 الإيرادات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الهدف: 1,000,000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68880" y="1554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E66D"/>
                </a:solidFill>
              </a:rPr>
              <a:t>الفعلي: 1,200,000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📈 الأرباح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الهدف: 200,000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0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E66D"/>
                </a:solidFill>
              </a:rPr>
              <a:t>الفعلي: 250,000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E66D"/>
                </a:solidFill>
              </a:rPr>
              <a:t>📊 نمو: 20% / 15% | 🔗 هامش: 20.8% / 20%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023360" cy="1920240"/>
          </a:xfrm>
          <a:prstGeom prst="roundRect">
            <a:avLst/>
          </a:prstGeom>
          <a:solidFill>
            <a:srgbClr val="25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🏢 شركة 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325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💰 الإيرادات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554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الهدف: 800,000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0" y="1554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</a:rPr>
              <a:t>الفعلي: 750,000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📈 الأرباح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الهدف: 150,000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66560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</a:rPr>
              <a:t>الفعلي: 120,000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2377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E66D"/>
                </a:solidFill>
              </a:rPr>
              <a:t>📊 نمو: 5% / 10% | 🔗 هامش: 16% / 18%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4023360" cy="1920240"/>
          </a:xfrm>
          <a:prstGeom prst="roundRect">
            <a:avLst/>
          </a:prstGeom>
          <a:solidFill>
            <a:srgbClr val="25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🏢 شركة 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💰 الإيرادات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657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الهدف: 1,500,000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68880" y="3657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</a:rPr>
              <a:t>الفعلي: 1,400,000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931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📈 الأرباح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160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الهدف: 300,000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68880" y="4160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</a:rPr>
              <a:t>الفعلي: 280,000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4480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E66D"/>
                </a:solidFill>
              </a:rPr>
              <a:t>📊 نمو: 15% / 20% | 🔗 هامش: 20% / 20%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017520"/>
            <a:ext cx="4023360" cy="1920240"/>
          </a:xfrm>
          <a:prstGeom prst="roundRect">
            <a:avLst/>
          </a:prstGeom>
          <a:solidFill>
            <a:srgbClr val="25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🏢 شركة د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46320" y="3429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💰 الإيرادات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657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الهدف: 500,000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66560" y="3657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E66D"/>
                </a:solidFill>
              </a:rPr>
              <a:t>الفعلي: 600,000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3931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📈 الأرباح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4160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الهدف: 80,000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66560" y="4160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E66D"/>
                </a:solidFill>
              </a:rPr>
              <a:t>الفعلي: 110,000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480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E66D"/>
                </a:solidFill>
              </a:rPr>
              <a:t>📊 نمو: 20% / 8% | 🔗 هامش: 18.3% / 16%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FF"/>
                </a:solidFill>
              </a:rPr>
              <a:t>📈 التحليل المقارن - الإيرادات والأرباح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840230"/>
            <a:ext cx="640080" cy="200025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1440180"/>
            <a:ext cx="640080" cy="240030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402183"/>
            <a:ext cx="640080" cy="627017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4245429"/>
            <a:ext cx="640080" cy="783771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212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شركة أ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2240280"/>
            <a:ext cx="640080" cy="16002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2340293"/>
            <a:ext cx="640080" cy="1500188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0" name="Shape 8"/>
          <p:cNvSpPr/>
          <p:nvPr/>
        </p:nvSpPr>
        <p:spPr>
          <a:xfrm>
            <a:off x="2651760" y="4558937"/>
            <a:ext cx="640080" cy="470263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4652990"/>
            <a:ext cx="640080" cy="37621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5212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شركة 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840105"/>
            <a:ext cx="640080" cy="3000375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0" y="1040130"/>
            <a:ext cx="640080" cy="280035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4088674"/>
            <a:ext cx="640080" cy="94052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0" y="4151376"/>
            <a:ext cx="640080" cy="87782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5212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شركة 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840355"/>
            <a:ext cx="640080" cy="1000125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589520" y="2640330"/>
            <a:ext cx="640080" cy="120015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0" y="4778393"/>
            <a:ext cx="640080" cy="250807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1" name="Shape 19"/>
          <p:cNvSpPr/>
          <p:nvPr/>
        </p:nvSpPr>
        <p:spPr>
          <a:xfrm>
            <a:off x="7589520" y="4684341"/>
            <a:ext cx="640080" cy="344859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5212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شركة د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5486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■ إيرادات هدف ■ إيرادات فعلي ■ أرباح هدف ■ أرباح فعلي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FF"/>
                </a:solidFill>
              </a:rPr>
              <a:t>🎯 نسبة الإنجاز (%)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0" y="1828800"/>
            <a:ext cx="3657600" cy="27432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2194560"/>
            <a:ext cx="2743200" cy="2011680"/>
          </a:xfrm>
          <a:prstGeom prst="ellipse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2560320"/>
            <a:ext cx="1828800" cy="1280160"/>
          </a:xfrm>
          <a:prstGeom prst="ellipse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3200400"/>
            <a:ext cx="0" cy="-228600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640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نمو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3200400"/>
            <a:ext cx="22860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926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هامش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0" cy="228600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5212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أرباح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3200400"/>
            <a:ext cx="-22860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2926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إيرادات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168400"/>
            <a:ext cx="1584960" cy="203200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56960" y="3200400"/>
            <a:ext cx="-1584960" cy="190500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5105400"/>
            <a:ext cx="-1828800" cy="-190500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3200400"/>
            <a:ext cx="1828800" cy="-203200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438400"/>
            <a:ext cx="1354667" cy="76200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26667" y="3200400"/>
            <a:ext cx="-1354667" cy="121920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4419600"/>
            <a:ext cx="-1428750" cy="-121920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43250" y="3200400"/>
            <a:ext cx="1428750" cy="-76200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057400"/>
            <a:ext cx="1524000" cy="1143000"/>
          </a:xfrm>
          <a:prstGeom prst="line">
            <a:avLst/>
          </a:prstGeom>
          <a:noFill/>
          <a:ln w="25400">
            <a:solidFill>
              <a:srgbClr val="FFE66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6000" y="3200400"/>
            <a:ext cx="-1524000" cy="1422400"/>
          </a:xfrm>
          <a:prstGeom prst="line">
            <a:avLst/>
          </a:prstGeom>
          <a:noFill/>
          <a:ln w="25400">
            <a:solidFill>
              <a:srgbClr val="FFE66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4622800"/>
            <a:ext cx="-1422400" cy="-1422400"/>
          </a:xfrm>
          <a:prstGeom prst="line">
            <a:avLst/>
          </a:prstGeom>
          <a:noFill/>
          <a:ln w="25400">
            <a:solidFill>
              <a:srgbClr val="FFE66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49600" y="3200400"/>
            <a:ext cx="1422400" cy="-1143000"/>
          </a:xfrm>
          <a:prstGeom prst="line">
            <a:avLst/>
          </a:prstGeom>
          <a:noFill/>
          <a:ln w="25400">
            <a:solidFill>
              <a:srgbClr val="FFE66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914400"/>
            <a:ext cx="1743075" cy="2286000"/>
          </a:xfrm>
          <a:prstGeom prst="line">
            <a:avLst/>
          </a:prstGeom>
          <a:noFill/>
          <a:ln w="25400">
            <a:solidFill>
              <a:srgbClr val="2ECC7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15075" y="3200400"/>
            <a:ext cx="-1743075" cy="2095500"/>
          </a:xfrm>
          <a:prstGeom prst="line">
            <a:avLst/>
          </a:prstGeom>
          <a:noFill/>
          <a:ln w="25400">
            <a:solidFill>
              <a:srgbClr val="2ECC7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5295900"/>
            <a:ext cx="-1828800" cy="-2095500"/>
          </a:xfrm>
          <a:prstGeom prst="line">
            <a:avLst/>
          </a:prstGeom>
          <a:noFill/>
          <a:ln w="25400">
            <a:solidFill>
              <a:srgbClr val="2ECC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3200400"/>
            <a:ext cx="1828800" cy="-2286000"/>
          </a:xfrm>
          <a:prstGeom prst="line">
            <a:avLst/>
          </a:prstGeom>
          <a:noFill/>
          <a:ln w="25400">
            <a:solidFill>
              <a:srgbClr val="2ECC7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120640"/>
            <a:ext cx="274320" cy="274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120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شركة أ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0" y="5120640"/>
            <a:ext cx="274320" cy="2743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3" name="Text 31"/>
          <p:cNvSpPr/>
          <p:nvPr/>
        </p:nvSpPr>
        <p:spPr>
          <a:xfrm>
            <a:off x="2834640" y="5120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شركة ب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5120640"/>
            <a:ext cx="274320" cy="27432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5120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شركة ج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66560" y="5120640"/>
            <a:ext cx="274320" cy="2743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0" y="5120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شركة د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FF"/>
                </a:solidFill>
              </a:rPr>
              <a:t>📋 ملخص الأداء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2860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188720"/>
                <a:gridCol w="1188720"/>
                <a:gridCol w="118872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الشركة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الإيرادات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الأرباح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نمو الإيرادات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هامش الربح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نسبة الإنجاز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شركة أ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1,200,000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250,000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20%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20.8%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120%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شركة ب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750,000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120,000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16%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78%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شركة ج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1,400,000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280,000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20%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90%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شركة د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600,000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110,000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20%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18.3%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155%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مقارنة أداء الشركات</dc:title>
  <dc:subject>PptxGenJS Presentation</dc:subject>
  <dc:creator>Hadi</dc:creator>
  <cp:lastModifiedBy>Hadi</cp:lastModifiedBy>
  <cp:revision>1</cp:revision>
  <dcterms:created xsi:type="dcterms:W3CDTF">2026-03-06T17:15:15Z</dcterms:created>
  <dcterms:modified xsi:type="dcterms:W3CDTF">2026-03-06T17:15:15Z</dcterms:modified>
</cp:coreProperties>
</file>