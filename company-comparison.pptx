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D4FF"/>
                </a:solidFill>
              </a:rPr>
              <a:t>📊 مقارنة أداء الشركات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ECDC4"/>
                </a:solidFill>
              </a:rPr>
              <a:t>برنامج كفالة السعودي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AAAA"/>
                </a:solidFill>
              </a:rPr>
              <a:t>تقرير أداء المنشآت المستفيدة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D4FF"/>
                </a:solidFill>
              </a:rPr>
              <a:t>🏢 نظرة عامة على الشركات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840480" cy="1645920"/>
          </a:xfrm>
          <a:prstGeom prst="rect">
            <a:avLst/>
          </a:prstGeom>
          <a:solidFill>
            <a:srgbClr val="2A2A4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</a:rPr>
              <a:t>شركة أ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C71"/>
                </a:solidFill>
              </a:rPr>
              <a:t>الإيرادات: 1,200,000 / 1,000,000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C71"/>
                </a:solidFill>
              </a:rPr>
              <a:t>الأرباح: 250,000 / 200,000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E66D"/>
                </a:solidFill>
              </a:rPr>
              <a:t>نمو: 20% | هامش: 20.8%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</a:rPr>
              <a:t>✅ ممتاز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1005840"/>
            <a:ext cx="3840480" cy="1645920"/>
          </a:xfrm>
          <a:prstGeom prst="rect">
            <a:avLst/>
          </a:prstGeom>
          <a:solidFill>
            <a:srgbClr val="2A2A4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097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</a:rPr>
              <a:t>شركة ب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54880" y="14630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6B"/>
                </a:solidFill>
              </a:rPr>
              <a:t>الإيرادات: 750,000 / 800,000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17373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6B"/>
                </a:solidFill>
              </a:rPr>
              <a:t>الأرباح: 120,000 / 150,000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2011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E66D"/>
                </a:solidFill>
              </a:rPr>
              <a:t>نمو: 5% | هامش: 16%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22860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</a:rPr>
              <a:t>❌ ضعيف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3840480" cy="1645920"/>
          </a:xfrm>
          <a:prstGeom prst="rect">
            <a:avLst/>
          </a:prstGeom>
          <a:solidFill>
            <a:srgbClr val="2A2A4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926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</a:rPr>
              <a:t>شركة ج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32918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6B"/>
                </a:solidFill>
              </a:rPr>
              <a:t>الإيرادات: 1,400,000 / 1,500,000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5661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6B"/>
                </a:solidFill>
              </a:rPr>
              <a:t>الأرباح: 280,000 / 300,000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38404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E66D"/>
                </a:solidFill>
              </a:rPr>
              <a:t>نمو: 15% | هامش: 20%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4114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E66D"/>
                </a:solidFill>
              </a:rPr>
              <a:t>⚠️ متوسط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0" y="2834640"/>
            <a:ext cx="3840480" cy="1645920"/>
          </a:xfrm>
          <a:prstGeom prst="rect">
            <a:avLst/>
          </a:prstGeom>
          <a:solidFill>
            <a:srgbClr val="2A2A4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926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</a:rPr>
              <a:t>شركة د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54880" y="32918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C71"/>
                </a:solidFill>
              </a:rPr>
              <a:t>الإيرادات: 600,000 / 500,000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35661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C71"/>
                </a:solidFill>
              </a:rPr>
              <a:t>الأرباح: 110,000 / 80,000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38404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E66D"/>
                </a:solidFill>
              </a:rPr>
              <a:t>نمو: 20% | هامش: 18.3%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4114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</a:rPr>
              <a:t>✅ ممتاز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D4FF"/>
                </a:solidFill>
              </a:rPr>
              <a:t>📋 ملخص الأداء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2743200"/>
        </p:xfrm>
        <a:graphic>
          <a:graphicData uri="http://schemas.openxmlformats.org/drawingml/2006/table">
            <a:tbl>
              <a:tblPr/>
              <a:tblGrid>
                <a:gridCol w="1371600"/>
                <a:gridCol w="1188720"/>
                <a:gridCol w="1188720"/>
                <a:gridCol w="1097280"/>
                <a:gridCol w="1097280"/>
                <a:gridCol w="1371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الشركة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الإيرادات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الأرباح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النمو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الهامش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الإنجاز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شركة أ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120%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125%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133%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104%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✅ 120%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شركة ب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94%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80%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50%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89%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❌ 78%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شركة ج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93%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93%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75%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100%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⚠️ 90%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شركة د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120%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138%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250%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114%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✅ 155%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D4FF"/>
                </a:solidFill>
              </a:rPr>
              <a:t>💰 مقارنة الإيرادات (الهدف vs الفعلي)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920240"/>
            <a:ext cx="731520" cy="21945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120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554480" y="2286000"/>
            <a:ext cx="731520" cy="182880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2377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100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42976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شركة أ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0" y="2743200"/>
            <a:ext cx="731520" cy="1371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0" y="28346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75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66160" y="2651760"/>
            <a:ext cx="731520" cy="146304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27432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80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0" y="42976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شركة 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554480"/>
            <a:ext cx="731520" cy="25603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645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140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77840" y="1371600"/>
            <a:ext cx="731520" cy="274320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6" name="Text 14"/>
          <p:cNvSpPr/>
          <p:nvPr/>
        </p:nvSpPr>
        <p:spPr>
          <a:xfrm>
            <a:off x="5577840" y="14630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150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42976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شركة ج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66560" y="3017520"/>
            <a:ext cx="731520" cy="10972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3108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60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589520" y="3200400"/>
            <a:ext cx="731520" cy="91440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21" name="Text 19"/>
          <p:cNvSpPr/>
          <p:nvPr/>
        </p:nvSpPr>
        <p:spPr>
          <a:xfrm>
            <a:off x="7589520" y="32918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50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66560" y="42976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شركة د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</a:rPr>
              <a:t>■ الفعلي  ■ الهدف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D4FF"/>
                </a:solidFill>
              </a:rPr>
              <a:t>📈 مقارنة الأرباح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828800"/>
            <a:ext cx="731520" cy="2286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920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25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554480" y="2286000"/>
            <a:ext cx="731520" cy="182880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2377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42976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شركة أ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0" y="3017520"/>
            <a:ext cx="731520" cy="10972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0" y="3108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66160" y="2743200"/>
            <a:ext cx="731520" cy="137160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28346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15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0" y="42976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شركة 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554480"/>
            <a:ext cx="731520" cy="25603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645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28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77840" y="1371600"/>
            <a:ext cx="731520" cy="274320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6" name="Text 14"/>
          <p:cNvSpPr/>
          <p:nvPr/>
        </p:nvSpPr>
        <p:spPr>
          <a:xfrm>
            <a:off x="5577840" y="14630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30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42976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شركة ج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66560" y="3108960"/>
            <a:ext cx="731520" cy="10058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32004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11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589520" y="3383280"/>
            <a:ext cx="731520" cy="73152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21" name="Text 19"/>
          <p:cNvSpPr/>
          <p:nvPr/>
        </p:nvSpPr>
        <p:spPr>
          <a:xfrm>
            <a:off x="7589520" y="34747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66560" y="42976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شركة د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</a:rPr>
              <a:t>■ الفعلي  ■ الهدف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D4FF"/>
                </a:solidFill>
              </a:rPr>
              <a:t>📊 مقارنة النمو %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731520" cy="27432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20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554480" y="2057400"/>
            <a:ext cx="731520" cy="205740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21488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42976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شركة أ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0" y="3429000"/>
            <a:ext cx="731520" cy="6858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0" y="3520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66160" y="2743200"/>
            <a:ext cx="731520" cy="137160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28346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0" y="42976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شركة 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057400"/>
            <a:ext cx="731520" cy="20574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21488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15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77840" y="1371600"/>
            <a:ext cx="731520" cy="274320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6" name="Text 14"/>
          <p:cNvSpPr/>
          <p:nvPr/>
        </p:nvSpPr>
        <p:spPr>
          <a:xfrm>
            <a:off x="5577840" y="14630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20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42976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شركة ج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66560" y="1371600"/>
            <a:ext cx="731520" cy="27432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14630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20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589520" y="3017520"/>
            <a:ext cx="731520" cy="109728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21" name="Text 19"/>
          <p:cNvSpPr/>
          <p:nvPr/>
        </p:nvSpPr>
        <p:spPr>
          <a:xfrm>
            <a:off x="7589520" y="3108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66560" y="42976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شركة د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</a:rPr>
              <a:t>■ الفعلي  ■ الهدف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D4FF"/>
                </a:solidFill>
              </a:rPr>
              <a:t>🔗 مقارنة الهامش %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731520" cy="27432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20.8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554480" y="1477108"/>
            <a:ext cx="731520" cy="2637692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156854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42976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شركة أ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0" y="2004646"/>
            <a:ext cx="731520" cy="211015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0" y="209608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16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66160" y="1740877"/>
            <a:ext cx="731520" cy="2373923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832317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18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0" y="42976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شركة 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477108"/>
            <a:ext cx="731520" cy="263769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56854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20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77840" y="1477108"/>
            <a:ext cx="731520" cy="2637692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6" name="Text 14"/>
          <p:cNvSpPr/>
          <p:nvPr/>
        </p:nvSpPr>
        <p:spPr>
          <a:xfrm>
            <a:off x="5577840" y="156854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20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42976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شركة ج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66560" y="1701312"/>
            <a:ext cx="731520" cy="24134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17927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18.3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589520" y="2004646"/>
            <a:ext cx="731520" cy="2110154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21" name="Text 19"/>
          <p:cNvSpPr/>
          <p:nvPr/>
        </p:nvSpPr>
        <p:spPr>
          <a:xfrm>
            <a:off x="7589520" y="209608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66560" y="42976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شركة د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</a:rPr>
              <a:t>■ الفعلي  ■ الهدف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D4FF"/>
                </a:solidFill>
              </a:rPr>
              <a:t>💡 الخلاصة والتوصيات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840480" cy="1645920"/>
          </a:xfrm>
          <a:prstGeom prst="rect">
            <a:avLst/>
          </a:prstGeom>
          <a:solidFill>
            <a:srgbClr val="2A2A4E"/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CC71"/>
                </a:solidFill>
              </a:rPr>
              <a:t>🏆 أفضل أداء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شركة د - أعلى إنجاز (155%)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</a:rPr>
              <a:t>نمو 250% وأرباح 138%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840480" cy="1645920"/>
          </a:xfrm>
          <a:prstGeom prst="rect">
            <a:avLst/>
          </a:prstGeom>
          <a:solidFill>
            <a:srgbClr val="2A2A4E"/>
          </a:solidFill>
          <a:ln w="25400">
            <a:solidFill>
              <a:srgbClr val="FF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097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</a:rPr>
              <a:t>⚠️ يحتاج تحسين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14630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شركة ب - أدنى إنجاز (78%)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17373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</a:rPr>
              <a:t>نمو فقط 50% من الهدف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E66D"/>
                </a:solidFill>
              </a:rPr>
              <a:t>📋 توصيات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329184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• دراسة أسباب تأخر شركة ب ووضع خطة تحسين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• الاستفادة من نمو شركة د (250%)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• متابعة شركة ج لتحقيق أهدافها الكاملة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• تعزيز برامج كفالة للنمو السريع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مقارنة أداء الشركات - كفالة</dc:title>
  <dc:subject>PptxGenJS Presentation</dc:subject>
  <dc:creator>Hadi</dc:creator>
  <cp:lastModifiedBy>Hadi</cp:lastModifiedBy>
  <cp:revision>1</cp:revision>
  <dcterms:created xsi:type="dcterms:W3CDTF">2026-03-06T17:12:12Z</dcterms:created>
  <dcterms:modified xsi:type="dcterms:W3CDTF">2026-03-06T17:12:12Z</dcterms:modified>
</cp:coreProperties>
</file>